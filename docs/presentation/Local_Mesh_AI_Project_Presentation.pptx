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4114800" cy="329184"/>
          </a:xfrm>
          <a:prstGeom prst="roundRect">
            <a:avLst/>
          </a:prstGeom>
          <a:solidFill>
            <a:srgbClr val="282828"/>
          </a:solidFill>
          <a:ln>
            <a:solidFill>
              <a:srgbClr val="E5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58B35"/>
                </a:solidFill>
                <a:latin typeface="Segoe UI"/>
              </a:defRPr>
            </a:pPr>
            <a:r>
              <a:t>●  TECHNICAL ARCHITECTURE &amp; PRODUCTION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FAFA"/>
                </a:solidFill>
                <a:latin typeface="Segoe UI"/>
              </a:defRPr>
            </a:pPr>
            <a:r>
              <a:t>Local Mesh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AA62"/>
                </a:solidFill>
                <a:latin typeface="Segoe UI"/>
              </a:defRPr>
            </a:pPr>
            <a:r>
              <a:t>Local-First Neural 3D Asset Generation &amp; AI Technical Artist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5943600" cy="23774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844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PRODUCTION ENGINEERING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FAFAFA"/>
                </a:solidFill>
                <a:latin typeface="Segoe UI"/>
              </a:rPr>
              <a:t>•  100% Local GPU Execution: </a:t>
            </a:r>
            <a:r>
              <a:rPr sz="950">
                <a:solidFill>
                  <a:srgbClr val="D0D0D0"/>
                </a:solidFill>
                <a:latin typeface="Segoe UI"/>
              </a:rPr>
              <a:t>Zero cloud API lock-in; private inference on consumer GPUs (RTX 3050 6GB).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AFAFA"/>
                </a:solidFill>
                <a:latin typeface="Segoe UI"/>
              </a:rPr>
              <a:t>•  Dual-Entry Creation Modes: </a:t>
            </a:r>
            <a:r>
              <a:rPr sz="950">
                <a:solidFill>
                  <a:srgbClr val="D0D0D0"/>
                </a:solidFill>
                <a:latin typeface="Segoe UI"/>
              </a:rPr>
              <a:t>Mode A (Text-to-3D with SD-Turbo) &amp; Mode B (Image-to-3D with rembg isolation).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AFAFA"/>
                </a:solidFill>
                <a:latin typeface="Segoe UI"/>
              </a:rPr>
              <a:t>•  Automated Multi-Material PBR: </a:t>
            </a:r>
            <a:r>
              <a:rPr sz="950">
                <a:solidFill>
                  <a:srgbClr val="D0D0D0"/>
                </a:solidFill>
                <a:latin typeface="Segoe UI"/>
              </a:rPr>
              <a:t>Semantic polygon face partitioning &amp; Reinhard Lab perceptual color transfer.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AFAFA"/>
                </a:solidFill>
                <a:latin typeface="Segoe UI"/>
              </a:rPr>
              <a:t>•  Native Blender DCC Bridge: </a:t>
            </a:r>
            <a:r>
              <a:rPr sz="950">
                <a:solidFill>
                  <a:srgbClr val="D0D0D0"/>
                </a:solidFill>
                <a:latin typeface="Segoe UI"/>
              </a:rPr>
              <a:t>Two-way pipeline: headless automation + artist viewport add-on in Blender 4.x/5.x.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AFAFA"/>
                </a:solidFill>
                <a:latin typeface="Segoe UI"/>
              </a:rPr>
              <a:t>•  Production Quality Assured: </a:t>
            </a:r>
            <a:r>
              <a:rPr sz="950">
                <a:solidFill>
                  <a:srgbClr val="D0D0D0"/>
                </a:solidFill>
                <a:latin typeface="Segoe UI"/>
              </a:rPr>
              <a:t>78/78 passing automated tests with genuine GLB exports &amp; EEVEE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3931920" cy="493776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024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VERIFIED GENERATED ASSET</a:t>
            </a:r>
          </a:p>
        </p:txBody>
      </p:sp>
      <p:pic>
        <p:nvPicPr>
          <p:cNvPr id="10" name="Picture 9" descr="chair_preview_render.png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3566160" cy="2005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44805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Genuine Blender EEVEE Viewport Render</a:t>
            </a:r>
          </a:p>
          <a:p>
            <a:pPr>
              <a:defRPr sz="900">
                <a:solidFill>
                  <a:srgbClr val="D0D0D0"/>
                </a:solidFill>
                <a:latin typeface="Segoe UI"/>
              </a:defRPr>
            </a:pPr>
            <a:r>
              <a:t>• Asset: Traditional dining chair (Prompt generated)</a:t>
            </a:r>
            <a:br/>
            <a:r>
              <a:t>• Materials: Walnut wood frame + Cream fabric cushions</a:t>
            </a:r>
            <a:br/>
            <a:r>
              <a:t>• Textures: 6 embedded PBR maps (diffuse, normal, rough)</a:t>
            </a:r>
            <a:br/>
            <a:r>
              <a:t>• Topology: 200,715 UV coordinates • Watertight GLB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8E"/>
                </a:solidFill>
                <a:latin typeface="Consolas"/>
              </a:defRPr>
            </a:pPr>
            <a:r>
              <a:t>Local Mesh AI  •  Kernlab-001/local-mesh-ai  •  PyTorch 2.6 CUDA 12.4  •  Blender 5.2.2 LTS  •  FastAPI &amp; Gradio 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INDUSTRY PAIN POINTS &amp; TECHNICAL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The Fragmented AI-to-3D Production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Technical Specification &amp; Pipeline Gap Analysis (services/job_manager.py, core/triposr_engine.py)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CLOUD DEPENDENCY &amp; PRIVACY BARRIERS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B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Recurring Cost &amp; Quota Limits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SaaS platforms enforce credit tokens and per-generation billing that quickly scales out of reach for studio prototyping.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Intellectual Property Exposure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Studio concept artwork and proprietary sketches must be uploaded to third-party cloud servers, violating enterprise IP requirements.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Offline Workflow Incompatibility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Artists working on local workstations or air-gapped environments cannot integrate remote web-only generators into their local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THE 'RAW AI MESH' USABILITY VOID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474720" cy="54864"/>
          </a:xfrm>
          <a:prstGeom prst="rect">
            <a:avLst/>
          </a:prstGeom>
          <a:solidFill>
            <a:srgbClr val="B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Default White &amp; Washed-out Models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Raw reconstruction engines (TripoSR, NeRF, Splats) export unshaded geometry or default white materials that discard user visual intent.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Disorganized Triangle Soups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Marching cubes outputs generate hundreds of thousands of unindexed triangles with open seams, non-manifold faces, and zero quad flow.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Missing PBR Surface Shaders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Meshes lack separate material definitions, leaving wood, metal, glass, and fabric surfaces all lumped into a single flat shader.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THE DCC INTEGRATION CLIFF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554480"/>
            <a:ext cx="3474720" cy="54864"/>
          </a:xfrm>
          <a:prstGeom prst="rect">
            <a:avLst/>
          </a:prstGeom>
          <a:solidFill>
            <a:srgbClr val="B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01168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Tedious Manual Reconstruction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Importing raw GLB outputs into Blender requires manual scaling, orientation correction, hole capping, and vertex welding.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Broken UVs and Texture Alignment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Texture baking and UV projection frequently suffer from distortion, inverted normals, and loss of fine decal details.</a:t>
            </a:r>
          </a:p>
          <a:p>
            <a:pPr>
              <a:spcBef>
                <a:spcPts val="8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✕  Lack of Bidirectional Tooling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Most tools end at a web viewer download button, with zero feedback loop to native 3D editors like Blender or Unreal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ARCHITECTURAL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Local Mesh AI: The Unified Local Studio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Repository Architecture &amp; System Implementation (FastAPI, Gradio 5.0, Blender Bridge, TripoSR)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1. ZERO-CLOUD LOCAL-FIRST INFERENCE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21208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Private On-Premise GPU: </a:t>
            </a:r>
            <a:r>
              <a:rPr sz="950">
                <a:solidFill>
                  <a:srgbClr val="D0D0D0"/>
                </a:solidFill>
                <a:latin typeface="Segoe UI"/>
              </a:rPr>
              <a:t>Runs 100% locally on consumer hardware (tested on RTX 3050 Laptop with 6GB VRAM) using PyTorch 2.6 and CUDA 12.4.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No API Keys or Recurring Costs: </a:t>
            </a:r>
            <a:r>
              <a:rPr sz="950">
                <a:solidFill>
                  <a:srgbClr val="D0D0D0"/>
                </a:solidFill>
                <a:latin typeface="Segoe UI"/>
              </a:rPr>
              <a:t>Completely unmetered unlimited generation without reliance on external servers or cloud credentials.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Hardware-Aware Resource Broker: </a:t>
            </a:r>
            <a:r>
              <a:rPr sz="950">
                <a:solidFill>
                  <a:srgbClr val="D0D0D0"/>
                </a:solidFill>
                <a:latin typeface="Segoe UI"/>
              </a:rPr>
              <a:t>Strict single-lease GPU broker manages exclusive VRAM locking and aggressive cache purging to prevent OOM crashes.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2. AUTOMATED MULTI-MATERIAL PBR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Semantic Polygon Partitioning: </a:t>
            </a:r>
            <a:r>
              <a:rPr sz="950">
                <a:solidFill>
                  <a:srgbClr val="D0D0D0"/>
                </a:solidFill>
                <a:latin typeface="Segoe UI"/>
              </a:rPr>
              <a:t>Intelligently classifies mesh faces (e.g. wood frame vs. fabric cushion vs. backrest) based on geometry and orientation.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Procedural PBR Texture Engine: </a:t>
            </a:r>
            <a:r>
              <a:rPr sz="950">
                <a:solidFill>
                  <a:srgbClr val="D0D0D0"/>
                </a:solidFill>
                <a:latin typeface="Segoe UI"/>
              </a:rPr>
              <a:t>Generates calibrated 1024x1024 diffuse, tangent normal, and roughness maps for wood, fabric, metal, and ceramics.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Perceptual Color Transfer: </a:t>
            </a:r>
            <a:r>
              <a:rPr sz="950">
                <a:solidFill>
                  <a:srgbClr val="D0D0D0"/>
                </a:solidFill>
                <a:latin typeface="Segoe UI"/>
              </a:rPr>
              <a:t>Reinhard Lab color space transfer locks generated 3D palette to reference artwork with 1:1 perceptual fidelity.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3. NATIVE BLENDER DCC PIPELINE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21208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Bidirectional Python Bridge: </a:t>
            </a:r>
            <a:r>
              <a:rPr sz="950">
                <a:solidFill>
                  <a:srgbClr val="D0D0D0"/>
                </a:solidFill>
                <a:latin typeface="Segoe UI"/>
              </a:rPr>
              <a:t>Headless background processing handles scaling, hole capping, micro-vertex welding, and lighting rig setup.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Interactive N-Panel Add-on: </a:t>
            </a:r>
            <a:r>
              <a:rPr sz="950">
                <a:solidFill>
                  <a:srgbClr val="D0D0D0"/>
                </a:solidFill>
                <a:latin typeface="Segoe UI"/>
              </a:rPr>
              <a:t>Artists generate, inspect, and repair models directly within Blender 4.x / 5.2 LTS without leaving the viewport.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One-Click Viewport Shader Sync: </a:t>
            </a:r>
            <a:r>
              <a:rPr sz="950">
                <a:solidFill>
                  <a:srgbClr val="D0D0D0"/>
                </a:solidFill>
                <a:latin typeface="Segoe UI"/>
              </a:rPr>
              <a:t>Inspects shader trees, unlinks glTF multiply nodes, and auto-switches to Material Preview with synced diffuse colors.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4. PRODUCTION RETOPOLOGY &amp; CLEAN EXPORT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21208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Automated Quad Remeshing: </a:t>
            </a:r>
            <a:r>
              <a:rPr sz="950">
                <a:solidFill>
                  <a:srgbClr val="D0D0D0"/>
                </a:solidFill>
                <a:latin typeface="Segoe UI"/>
              </a:rPr>
              <a:t>Decimates raw marching cubes triangle soup to user-configurable quad budget (e.g. 8K quads for game engines).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High-to-Low Texture Baking: </a:t>
            </a:r>
            <a:r>
              <a:rPr sz="950">
                <a:solidFill>
                  <a:srgbClr val="D0D0D0"/>
                </a:solidFill>
                <a:latin typeface="Segoe UI"/>
              </a:rPr>
              <a:t>Cycles ray-casting bakes 16-bit tangent space normal and diffuse maps from high-poly reference to low-poly asset.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AFAFA"/>
                </a:solidFill>
                <a:latin typeface="Segoe UI"/>
              </a:rPr>
              <a:t>✔  Verified Multi-Format Delivery: </a:t>
            </a:r>
            <a:r>
              <a:rPr sz="950">
                <a:solidFill>
                  <a:srgbClr val="D0D0D0"/>
                </a:solidFill>
                <a:latin typeface="Segoe UI"/>
              </a:rPr>
              <a:t>Exports watertight GLB, FBX, OBJ, and native `.blend` scene files with complete asset manifests.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SUBSYSTEM DESIGN &amp;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Verified 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Verified Modules: api/app.py, services/job_manager.py, core/gpu_broker.py, bridge/blender_bridge.py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58B35"/>
                </a:solidFill>
                <a:latin typeface="Segoe UI"/>
              </a:defRPr>
            </a:pPr>
            <a:r>
              <a:t>1. CLIENT &amp; PRESENTATION TIER  —  User Interfaces &amp; Artist Interaction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4747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013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Gradio 5.0 Studio UI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Blender-themed workspace (#1E1E1E) with generation shelf, Three.js WebGL viewport, derived mesh metrics &amp; interactive tour.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783080"/>
            <a:ext cx="34747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013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Three.js WebGL Viewer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Embedded 4-point studio lighting viewer with live wireframe toggle, orbit controls, bounding box calculation &amp; asset stats.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1783080"/>
            <a:ext cx="34747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18013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Blender 4.x/5.x Add-on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Native N-panel studio sidebar, background job polling, smart shader node validation &amp; viewport diffuse color synchronization.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58B35"/>
                </a:solidFill>
                <a:latin typeface="Segoe UI"/>
              </a:defRPr>
            </a:pPr>
            <a:r>
              <a:t>2. API &amp; ORCHESTRATION TIER  —  Async REST Endpoints &amp; Pipeline State 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926080"/>
            <a:ext cx="53035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944368"/>
            <a:ext cx="51572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FastAPI Async REST API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Exposes /jobs submission, status polling, /jobs/{id}/mesh binary serving, /health diagnostics &amp; export endpoints.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2926080"/>
            <a:ext cx="53035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51572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State-Machine Job Manager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Thread-pool executor tracking 10 distinct job states, progress percentages, active cancellation &amp; manifest logging.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40"/>
            <a:ext cx="10698480" cy="105156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94760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58B35"/>
                </a:solidFill>
                <a:latin typeface="Segoe UI"/>
              </a:defRPr>
            </a:pPr>
            <a:r>
              <a:t>3. HARDWARE &amp; CONCURRENCY BROKER TIER  —  Resource Leasing &amp; Memory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069080"/>
            <a:ext cx="53035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087368"/>
            <a:ext cx="51572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Hardware Detection Engine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Probes NVIDIA CUDA VRAM, CPU cores, system RAM and local Blender 4.x/5.x binary path on Windows.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069080"/>
            <a:ext cx="53035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87368"/>
            <a:ext cx="51572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Exclusive GPU Lease Broker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Strict file-lock &amp; threading-lock broker enforcing single-task VRAM allocation with automatic purge &amp; VRAM garbage collection.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92040"/>
            <a:ext cx="10698480" cy="105156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37760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58B35"/>
                </a:solidFill>
                <a:latin typeface="Segoe UI"/>
              </a:defRPr>
            </a:pPr>
            <a:r>
              <a:t>4. NEURAL GENERATION &amp; DCC PROCESSING ENGINE  —  Local AI Inference &amp; Headless Blender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212080"/>
            <a:ext cx="25603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230368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Dual-Entry Input Validation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Mode A prompt sanitizer with CLIP 77-token preservation + Mode B rembg foreground background isolation.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38728" y="5212080"/>
            <a:ext cx="25603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5230368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Neural 3D Reconstruction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SD-Turbo 1-step FP16 concept diffusion + TripoSR feed-forward neural marching cubes volumetric mesh generation.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5212080"/>
            <a:ext cx="25603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5230368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Appearance &amp; Materials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Reinhard Lab perceptual color calibration + Semantic polygon face partitioning + Procedural PBR texture maps.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78824" y="5212080"/>
            <a:ext cx="2560320" cy="640080"/>
          </a:xfrm>
          <a:prstGeom prst="roundRect">
            <a:avLst/>
          </a:prstGeom>
          <a:solidFill>
            <a:srgbClr val="282828"/>
          </a:solidFill>
          <a:ln w="9525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1976" y="5230368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AFAFA"/>
                </a:solidFill>
                <a:latin typeface="Segoe UI"/>
              </a:defRPr>
            </a:pPr>
            <a:r>
              <a:t>Headless Blender Bridge</a:t>
            </a:r>
          </a:p>
          <a:p>
            <a:pPr>
              <a:defRPr sz="750">
                <a:solidFill>
                  <a:srgbClr val="D0D0D0"/>
                </a:solidFill>
                <a:latin typeface="Segoe UI"/>
              </a:defRPr>
            </a:pPr>
            <a:r>
              <a:t>Automated scaling, hole capping, micro-vertex welding, Cycles quad remesh, normal baking &amp; GLB/FBX/OBJ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PIPELINE EXECUTION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10-Stage Verified End-to-End Generation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Implemented in services/job_manager.py (Lines 200-530), manifested in jobs/&lt;id&gt;/reports/manifest.json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05740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9164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27EB5"/>
                </a:solidFill>
                <a:latin typeface="Consolas"/>
              </a:defRPr>
            </a:pPr>
            <a:r>
              <a:t>STAGE 1  [5%]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Dual Validation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Prompt parsed &amp; prioritized for CLIP 77 tokens; image validated &amp; staged.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55448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1554480"/>
            <a:ext cx="205740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19" y="169164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27EB5"/>
                </a:solidFill>
                <a:latin typeface="Consolas"/>
              </a:defRPr>
            </a:pPr>
            <a:r>
              <a:t>STAGE 2  [15%]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Concept Art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SD-Turbo 1-step FP16 synthesis (~1.5s) or bypassed for Mode B 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554480"/>
            <a:ext cx="205740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69164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27EB5"/>
                </a:solidFill>
                <a:latin typeface="Consolas"/>
              </a:defRPr>
            </a:pPr>
            <a:r>
              <a:t>STAGE 3  [25%]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Multi-View Grid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Generates 4 canonical 90° reference perspectives for visual consistency.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55448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554480"/>
            <a:ext cx="205740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69164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27EB5"/>
                </a:solidFill>
                <a:latin typeface="Consolas"/>
              </a:defRPr>
            </a:pPr>
            <a:r>
              <a:t>STAGE 4  [45%]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Neural Reconstruct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TripoSR neural feed-forward marching cubes generates raw volumetric mesh.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55448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36608" y="1554480"/>
            <a:ext cx="205740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169164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8B35"/>
                </a:solidFill>
                <a:latin typeface="Consolas"/>
              </a:defRPr>
            </a:pPr>
            <a:r>
              <a:t>STAGE 5  [65%]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Color Calibration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Reinhard Lab perceptual color transfer aligns 3D vertex colors to source art.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205740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93192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8B35"/>
                </a:solidFill>
                <a:latin typeface="Consolas"/>
              </a:defRPr>
            </a:pPr>
            <a:r>
              <a:t>STAGE 6  [70%]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Appearance Profile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Analyzes geometry &amp; prompt; derives semantic material slots &amp; PBR settings.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1" y="379476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07791" y="3794760"/>
            <a:ext cx="205740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19" y="393192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8B35"/>
                </a:solidFill>
                <a:latin typeface="Consolas"/>
              </a:defRPr>
            </a:pPr>
            <a:r>
              <a:t>STAGE 7  [75%]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Geometry Sanitize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Crops degenerate faces, caps open mesh holes &amp; welds micro-split vertices.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4064" y="379476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84064" y="3794760"/>
            <a:ext cx="205740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3792" y="393192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8B35"/>
                </a:solidFill>
                <a:latin typeface="Consolas"/>
              </a:defRPr>
            </a:pPr>
            <a:r>
              <a:t>STAGE 8  [80%]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UVs &amp; PBR Textures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Smart UV unwrap + generates 1K diffuse, normal &amp; roughness maps on disk.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0336" y="379476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0336" y="3794760"/>
            <a:ext cx="205740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393192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E8B58"/>
                </a:solidFill>
                <a:latin typeface="Consolas"/>
              </a:defRPr>
            </a:pPr>
            <a:r>
              <a:t>STAGE 9  [90%]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Blender Post-Proc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Headless scene setup, Cycles/EEVEE baking, collection routing &amp; verification.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794760"/>
            <a:ext cx="2057400" cy="2057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36608" y="3794760"/>
            <a:ext cx="205740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46336" y="3931920"/>
            <a:ext cx="1837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E8B58"/>
                </a:solidFill>
                <a:latin typeface="Consolas"/>
              </a:defRPr>
            </a:pPr>
            <a:r>
              <a:t>STAGE 10  [100%]</a:t>
            </a:r>
          </a:p>
          <a:p>
            <a:pPr>
              <a:spcBef>
                <a:spcPts val="300"/>
              </a:spcBef>
              <a:defRPr sz="1100" b="1">
                <a:solidFill>
                  <a:srgbClr val="FAFAFA"/>
                </a:solidFill>
                <a:latin typeface="Segoe UI"/>
              </a:defRPr>
            </a:pPr>
            <a:r>
              <a:t>Delivery &amp; Inspect</a:t>
            </a:r>
          </a:p>
          <a:p>
            <a:pPr>
              <a:spcBef>
                <a:spcPts val="400"/>
              </a:spcBef>
              <a:defRPr sz="850">
                <a:solidFill>
                  <a:srgbClr val="D0D0D0"/>
                </a:solidFill>
                <a:latin typeface="Segoe UI"/>
              </a:defRPr>
            </a:pPr>
            <a:r>
              <a:t>Exports verified GLB, FBX, OBJ &amp; opens in Three.js or Blender viewport.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NEURAL INFERENCE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Core AI Models &amp; 3D Reconstruction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Verified Dependencies: requirements.txt (PyTorch 2.6.0+cu124, transformers 4.49, rembg 2.0.86, trimesh 5.1.1)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SD-TURBO (STABILITY 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Framework: </a:t>
            </a:r>
            <a:r>
              <a:rPr sz="900">
                <a:solidFill>
                  <a:srgbClr val="D0D0D0"/>
                </a:solidFill>
                <a:latin typeface="Segoe UI"/>
              </a:rPr>
              <a:t>HuggingFace Diffusers (AutoPipelineForText2Image) in FP16 precision.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Architecture: </a:t>
            </a:r>
            <a:r>
              <a:rPr sz="900">
                <a:solidFill>
                  <a:srgbClr val="D0D0D0"/>
                </a:solidFill>
                <a:latin typeface="Segoe UI"/>
              </a:rPr>
              <a:t>1-step Adversarial Diffusion Distillation (ADD) generating 512x512 concept art in ~1.5 seconds.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VRAM Footprint: </a:t>
            </a:r>
            <a:r>
              <a:rPr sz="900">
                <a:solidFill>
                  <a:srgbClr val="D0D0D0"/>
                </a:solidFill>
                <a:latin typeface="Segoe UI"/>
              </a:rPr>
              <a:t>~3.2 GB peak VRAM; isolated via strict GPU Broker lease and purged immediately after synthesis.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Prompt Engine: </a:t>
            </a:r>
            <a:r>
              <a:rPr sz="900">
                <a:solidFill>
                  <a:srgbClr val="D0D0D0"/>
                </a:solidFill>
                <a:latin typeface="Segoe UI"/>
              </a:rPr>
              <a:t>Token-budget prioritizing material, color, and silhouette adjectives within the CLIP 77-token ceiling.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TRIPOSR (TRIPO AI &amp; STABILITY AI)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Framework: </a:t>
            </a:r>
            <a:r>
              <a:rPr sz="900">
                <a:solidFill>
                  <a:srgbClr val="D0D0D0"/>
                </a:solidFill>
                <a:latin typeface="Segoe UI"/>
              </a:rPr>
              <a:t>PyTorch 2.6 + CUDA 12.4 feed-forward Transformer NeRF reconstruction backbone.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Reconstruction: </a:t>
            </a:r>
            <a:r>
              <a:rPr sz="900">
                <a:solidFill>
                  <a:srgbClr val="D0D0D0"/>
                </a:solidFill>
                <a:latin typeface="Segoe UI"/>
              </a:rPr>
              <a:t>Direct single-image to 3D implicit field synthesis; converts implicit field to explicit mesh via Marching Cubes.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Inference Speed: </a:t>
            </a:r>
            <a:r>
              <a:rPr sz="900">
                <a:solidFill>
                  <a:srgbClr val="D0D0D0"/>
                </a:solidFill>
                <a:latin typeface="Segoe UI"/>
              </a:rPr>
              <a:t>~50 - 65 seconds total execution time on NVIDIA RTX 3050 Laptop GPU.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Geometry Output: </a:t>
            </a:r>
            <a:r>
              <a:rPr sz="900">
                <a:solidFill>
                  <a:srgbClr val="D0D0D0"/>
                </a:solidFill>
                <a:latin typeface="Segoe UI"/>
              </a:rPr>
              <a:t>Dense watertight triangle mesh (~100K-300K triangles) normalized to canonical bounding 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REMBG / BIREFNET BACKGROUND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21208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Framework: </a:t>
            </a:r>
            <a:r>
              <a:rPr sz="900">
                <a:solidFill>
                  <a:srgbClr val="D0D0D0"/>
                </a:solidFill>
                <a:latin typeface="Segoe UI"/>
              </a:rPr>
              <a:t>ONNX Runtime with GPU acceleration (onnxruntime-gpu &gt;= 1.18.0).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Functionality: </a:t>
            </a:r>
            <a:r>
              <a:rPr sz="900">
                <a:solidFill>
                  <a:srgbClr val="D0D0D0"/>
                </a:solidFill>
                <a:latin typeface="Segoe UI"/>
              </a:rPr>
              <a:t>High-accuracy salient object detection and alpha matte extraction, stripping background clutter.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Reconstruction Value: </a:t>
            </a:r>
            <a:r>
              <a:rPr sz="900">
                <a:solidFill>
                  <a:srgbClr val="D0D0D0"/>
                </a:solidFill>
                <a:latin typeface="Segoe UI"/>
              </a:rPr>
              <a:t>Eliminates background geometry artifacts and grounding distortion during 3D back-projection.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QWEN 2.5 CODER 7B (LLM SCENE PLANNER)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21208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Framework: </a:t>
            </a:r>
            <a:r>
              <a:rPr sz="900">
                <a:solidFill>
                  <a:srgbClr val="D0D0D0"/>
                </a:solidFill>
                <a:latin typeface="Segoe UI"/>
              </a:rPr>
              <a:t>GGUF 4-bit quantized inference via llama-cpp-python with deterministic rule-based fallback.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Natural Language Edits: </a:t>
            </a:r>
            <a:r>
              <a:rPr sz="900">
                <a:solidFill>
                  <a:srgbClr val="D0D0D0"/>
                </a:solidFill>
                <a:latin typeface="Segoe UI"/>
              </a:rPr>
              <a:t>Translates artist modification prompts into validated declarative Blender Python command schemas.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Safety Validation: </a:t>
            </a:r>
            <a:r>
              <a:rPr sz="900">
                <a:solidFill>
                  <a:srgbClr val="D0D0D0"/>
                </a:solidFill>
                <a:latin typeface="Segoe UI"/>
              </a:rPr>
              <a:t>Pydantic schema validation rejects malicious code injection, out-of-bounds scale, and arbitrary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APPEARANCE ENGINE &amp; SHADER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Multi-Material PBR Synthesis &amp; Viewport Repair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Resolved white-mesh bug in commit 4835a0c • core/material_synthesizer.py, addon/triposr_blender_addon.py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ROOT CAUSE RESOLUTION &amp; PIPELINE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✔  The Default Material Early-Return Bug Fixed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Blender's glTF importer creates 'DefaultMaterial' ([0.8, 0.8, 0.8]) when importing untextured meshes. Previous code checked len(materials)&gt;0 and returned early without inspecting shader nodes, treating blank white as valid authored PBR. Now _inspect_material_slot() detects default white shaders and triggers semantic multi-material repair.</a:t>
            </a:r>
          </a:p>
          <a:p>
            <a:pPr>
              <a:spcBef>
                <a:spcPts val="5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✔  glTF Multiply Node Bypass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Blender imports vertex colors by multiplying textures via a Mix node (blend_type='MULTIPLY'). If vertex colors are pure white or uncalibrated, textures wash out or dim. The pipeline unlinks multiply nodes directly into Principled BSDF Base Color, restoring vibrant contrast.</a:t>
            </a:r>
          </a:p>
          <a:p>
            <a:pPr>
              <a:spcBef>
                <a:spcPts val="5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✔  Semantic Polygon Face Partitioning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Analyzes geometric bounds and orientation to partition meshes into distinct semantic material slots: e.g. for a dining chair, legs/frame (&lt;0.45m) receive dark walnut wood, seat cushion (0.45-0.60m) receives ivory-cream fabric, and backrest receives tufted fabric.</a:t>
            </a:r>
          </a:p>
          <a:p>
            <a:pPr>
              <a:spcBef>
                <a:spcPts val="5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✔  Inter-Process Appearance Profile Transfer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The backend computes an AppearanceProfile, serializes it to profile.json in the job directory, returns it via the REST API, and forwards it to Blender bridge subprocesses via --profile.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554480"/>
            <a:ext cx="448056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6642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VERIFIED MATERIAL VISUAL ASSETS</a:t>
            </a:r>
          </a:p>
        </p:txBody>
      </p:sp>
      <p:pic>
        <p:nvPicPr>
          <p:cNvPr id="13" name="Picture 12" descr="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3429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E8E8E"/>
                </a:solidFill>
              </a:defRPr>
            </a:pPr>
            <a:r>
              <a:t>1. SD Concept</a:t>
            </a:r>
          </a:p>
        </p:txBody>
      </p:sp>
      <p:pic>
        <p:nvPicPr>
          <p:cNvPr id="15" name="Picture 14" descr="tex_0_m_wood_frame_diff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01168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1080" y="34290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E8E8E"/>
                </a:solidFill>
              </a:defRPr>
            </a:pPr>
            <a:r>
              <a:t>2. Wood PBR</a:t>
            </a:r>
          </a:p>
        </p:txBody>
      </p:sp>
      <p:pic>
        <p:nvPicPr>
          <p:cNvPr id="17" name="Picture 16" descr="tex_1_m_fabric_cushion_diff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011680"/>
            <a:ext cx="1280160" cy="1280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12680" y="34290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E8E8E"/>
                </a:solidFill>
              </a:defRPr>
            </a:pPr>
            <a:r>
              <a:t>3. Fabric PBR</a:t>
            </a:r>
          </a:p>
        </p:txBody>
      </p:sp>
      <p:pic>
        <p:nvPicPr>
          <p:cNvPr id="19" name="Picture 18" descr="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749039"/>
            <a:ext cx="4160520" cy="2340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32320" y="5623560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E8B58"/>
                </a:solidFill>
              </a:defRPr>
            </a:pPr>
            <a:r>
              <a:t>4. Final Blender EEVEE Viewport: Dark Walnut Frame + Cream Fabric Cushion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ARTIST DCC WORKSPACE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Native Blender 4.x / 5.x Add-on &amp;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Add-on implementation: addon/triposr_blender_addon.py, Headless Bridge: bridge/blender_bridge.py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NATIVE N-PANEL STUDIO SIDEBAR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Direct Viewport Controls: </a:t>
            </a:r>
            <a:r>
              <a:rPr sz="900">
                <a:solidFill>
                  <a:srgbClr val="D0D0D0"/>
                </a:solidFill>
                <a:latin typeface="Segoe UI"/>
              </a:rPr>
              <a:t>Artists submit Text-to-3D or Image-to-3D jobs directly inside Blender without switching applications.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Background Timer Polling: </a:t>
            </a:r>
            <a:r>
              <a:rPr sz="900">
                <a:solidFill>
                  <a:srgbClr val="D0D0D0"/>
                </a:solidFill>
                <a:latin typeface="Segoe UI"/>
              </a:rPr>
              <a:t>Uses bpy.app.timers to poll backend job status every second without locking Blender's interactive UI.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Automatic Mesh Import: </a:t>
            </a:r>
            <a:r>
              <a:rPr sz="900">
                <a:solidFill>
                  <a:srgbClr val="D0D0D0"/>
                </a:solidFill>
                <a:latin typeface="Segoe UI"/>
              </a:rPr>
              <a:t>Automatically imports completed GLB models into the active scene and frames the viewport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AUTOMATED SCENE &amp; COLLECTION ORGANIZATION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521208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Clean Collection Routing: </a:t>
            </a:r>
            <a:r>
              <a:rPr sz="900">
                <a:solidFill>
                  <a:srgbClr val="D0D0D0"/>
                </a:solidFill>
                <a:latin typeface="Segoe UI"/>
              </a:rPr>
              <a:t>Sorts generated assets into 'TripoSR_Generated_Assets', 'HighPoly_Reference', and 'LowPoly_GameReady' collections.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Studio Lighting &amp; Ground Grid: </a:t>
            </a:r>
            <a:r>
              <a:rPr sz="900">
                <a:solidFill>
                  <a:srgbClr val="D0D0D0"/>
                </a:solidFill>
                <a:latin typeface="Segoe UI"/>
              </a:rPr>
              <a:t>Optionally generates a calibrated 3-point studio lighting rig and shadow catcher plane for immediate preview rendering.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Transform &amp; Scale Normalization: </a:t>
            </a:r>
            <a:r>
              <a:rPr sz="900">
                <a:solidFill>
                  <a:srgbClr val="D0D0D0"/>
                </a:solidFill>
                <a:latin typeface="Segoe UI"/>
              </a:rPr>
              <a:t>Applies unit transforms, sets real-world scale (target height in meters), and centers pivot to ground 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INTELLIGENT VIEWPORT SHADING &amp; SHADER REPAIR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21208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One-Click Viewport Switch: </a:t>
            </a:r>
            <a:r>
              <a:rPr sz="900">
                <a:solidFill>
                  <a:srgbClr val="D0D0D0"/>
                </a:solidFill>
                <a:latin typeface="Segoe UI"/>
              </a:rPr>
              <a:t>TRIPOSR_OT_SwitchViewport auto-configures 3D Viewport to Material Preview mode with scene lighting enabled.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Deep Shader Inspection: </a:t>
            </a:r>
            <a:r>
              <a:rPr sz="900">
                <a:solidFill>
                  <a:srgbClr val="D0D0D0"/>
                </a:solidFill>
                <a:latin typeface="Segoe UI"/>
              </a:rPr>
              <a:t>_inspect_material_slot() evaluates Principled BSDF nodes, Base Color connections, and image texture bindings.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Diffuse Color Synchronization: </a:t>
            </a:r>
            <a:r>
              <a:rPr sz="900">
                <a:solidFill>
                  <a:srgbClr val="D0D0D0"/>
                </a:solidFill>
                <a:latin typeface="Segoe UI"/>
              </a:rPr>
              <a:t>Computes average RGB across image texture pixels and syncs mat.diffuse_color so colors render in Solid mode too.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HEADLESS BRIDGE &amp; SUBPROCESS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Unattended Background Execution: </a:t>
            </a:r>
            <a:r>
              <a:rPr sz="900">
                <a:solidFill>
                  <a:srgbClr val="D0D0D0"/>
                </a:solidFill>
                <a:latin typeface="Segoe UI"/>
              </a:rPr>
              <a:t>bridge/blender_bridge.py executes headless operations via subprocess without user intervention.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Voxel Remeshing &amp; Retopo: </a:t>
            </a:r>
            <a:r>
              <a:rPr sz="900">
                <a:solidFill>
                  <a:srgbClr val="D0D0D0"/>
                </a:solidFill>
                <a:latin typeface="Segoe UI"/>
              </a:rPr>
              <a:t>Performs non-destructive quad remeshing to target polycount budgets (8K quads for games).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Cycles High-to-Low Baking: </a:t>
            </a:r>
            <a:r>
              <a:rPr sz="900">
                <a:solidFill>
                  <a:srgbClr val="D0D0D0"/>
                </a:solidFill>
                <a:latin typeface="Segoe UI"/>
              </a:rPr>
              <a:t>Ray-casts high-poly reference details to low-poly target, exporting 16-bit tangent space normal &amp; diffuse 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AUTOMATED QA &amp; QUALITY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Engineering Verification &amp; Automated Test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Verified pytest run on Windows 11 host (Python 3.12, pytest 9.1.1): 78 passed in 37.34s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560320" cy="11887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8B58"/>
                </a:solidFill>
                <a:latin typeface="Consolas"/>
              </a:defRPr>
            </a:pPr>
            <a:r>
              <a:t>78</a:t>
            </a:r>
          </a:p>
          <a:p>
            <a:pPr>
              <a:defRPr sz="850" b="1">
                <a:solidFill>
                  <a:srgbClr val="FAFAFA"/>
                </a:solidFill>
                <a:latin typeface="Segoe UI"/>
              </a:defRPr>
            </a:pPr>
            <a:r>
              <a:t>TOTAL TESTS COLLECTED</a:t>
            </a:r>
          </a:p>
          <a:p>
            <a:pPr>
              <a:defRPr sz="750">
                <a:solidFill>
                  <a:srgbClr val="8E8E8E"/>
                </a:solidFill>
                <a:latin typeface="Segoe UI"/>
              </a:defRPr>
            </a:pPr>
            <a:r>
              <a:t>100% Pass Rate across 16 test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554480"/>
            <a:ext cx="2560320" cy="11887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E8B58"/>
                </a:solidFill>
                <a:latin typeface="Consolas"/>
              </a:defRPr>
            </a:pPr>
            <a:r>
              <a:t>78</a:t>
            </a:r>
          </a:p>
          <a:p>
            <a:pPr>
              <a:defRPr sz="850" b="1">
                <a:solidFill>
                  <a:srgbClr val="FAFAFA"/>
                </a:solidFill>
                <a:latin typeface="Segoe UI"/>
              </a:defRPr>
            </a:pPr>
            <a:r>
              <a:t>PASSED VERIFICATIONS</a:t>
            </a:r>
          </a:p>
          <a:p>
            <a:pPr>
              <a:defRPr sz="750">
                <a:solidFill>
                  <a:srgbClr val="8E8E8E"/>
                </a:solidFill>
                <a:latin typeface="Segoe UI"/>
              </a:defRPr>
            </a:pPr>
            <a:r>
              <a:t>Zero failures, regressions, or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554480"/>
            <a:ext cx="2560320" cy="11887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FAFA"/>
                </a:solidFill>
                <a:latin typeface="Consolas"/>
              </a:defRPr>
            </a:pPr>
            <a:r>
              <a:t>0</a:t>
            </a:r>
          </a:p>
          <a:p>
            <a:pPr>
              <a:defRPr sz="850" b="1">
                <a:solidFill>
                  <a:srgbClr val="FAFAFA"/>
                </a:solidFill>
                <a:latin typeface="Segoe UI"/>
              </a:defRPr>
            </a:pPr>
            <a:r>
              <a:t>FAILED / BROKEN TESTS</a:t>
            </a:r>
          </a:p>
          <a:p>
            <a:pPr>
              <a:defRPr sz="750">
                <a:solidFill>
                  <a:srgbClr val="8E8E8E"/>
                </a:solidFill>
                <a:latin typeface="Segoe UI"/>
              </a:defRPr>
            </a:pPr>
            <a:r>
              <a:t>Clean execution across full test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554480"/>
            <a:ext cx="2560320" cy="11887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58B35"/>
                </a:solidFill>
                <a:latin typeface="Consolas"/>
              </a:defRPr>
            </a:pPr>
            <a:r>
              <a:t>0</a:t>
            </a:r>
          </a:p>
          <a:p>
            <a:pPr>
              <a:defRPr sz="850" b="1">
                <a:solidFill>
                  <a:srgbClr val="FAFAFA"/>
                </a:solidFill>
                <a:latin typeface="Segoe UI"/>
              </a:defRPr>
            </a:pPr>
            <a:r>
              <a:t>SKIPPED TESTS</a:t>
            </a:r>
          </a:p>
          <a:p>
            <a:pPr>
              <a:defRPr sz="750">
                <a:solidFill>
                  <a:srgbClr val="8E8E8E"/>
                </a:solidFill>
                <a:latin typeface="Segoe UI"/>
              </a:defRPr>
            </a:pPr>
            <a:r>
              <a:t>Zero skips; deterministic authentic fixtures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10698480" cy="30175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3580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DETAILED TEST MATRIX &amp; VERIFICATION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4E8B58"/>
                </a:solidFill>
                <a:latin typeface="Segoe UI"/>
              </a:rPr>
              <a:t>●  Blender Headless Subprocess Suite (7 Tests): </a:t>
            </a:r>
            <a:r>
              <a:rPr sz="900">
                <a:solidFill>
                  <a:srgbClr val="D0D0D0"/>
                </a:solidFill>
                <a:latin typeface="Segoe UI"/>
              </a:rPr>
              <a:t>Executes genuine Blender 5.2.2 LTS subprocesses in background (--background --python-expr) testing material slot validation, neutral white detection, glTF export/re-import roundtripping, and live add-on material repair.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58B35"/>
                </a:solidFill>
                <a:latin typeface="Segoe UI"/>
              </a:rPr>
              <a:t>●  Local AI &amp; Neural Diffusion Suite (5 Tests): </a:t>
            </a:r>
            <a:r>
              <a:rPr sz="900">
                <a:solidFill>
                  <a:srgbClr val="D0D0D0"/>
                </a:solidFill>
                <a:latin typeface="Segoe UI"/>
              </a:rPr>
              <a:t>Executes real PyTorch 2.6 CUDA 12.4 inference; verifies SD-Turbo pipeline initialization, FP16 prompt synthesis, prompt tokenizer limit enforcement (CLIP 77-token ceiling), and GPU broker VRAM leasing.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4E8B58"/>
                </a:solidFill>
                <a:latin typeface="Segoe UI"/>
              </a:rPr>
              <a:t>●  Appearance &amp; Multi-Material Suite (12 Tests): </a:t>
            </a:r>
            <a:r>
              <a:rPr sz="900">
                <a:solidFill>
                  <a:srgbClr val="D0D0D0"/>
                </a:solidFill>
                <a:latin typeface="Segoe UI"/>
              </a:rPr>
              <a:t>Comprehensive deterministic tests validating repair of unlinked BSDF nodes, missing textures, polygon face assignments, and verified distinct palettes for unrelated objects (red sports car, green ceramic vase).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427EB5"/>
                </a:solidFill>
                <a:latin typeface="Segoe UI"/>
              </a:rPr>
              <a:t>●  REST API &amp; WebGL Serving Suite (16 Tests): </a:t>
            </a:r>
            <a:r>
              <a:rPr sz="900">
                <a:solidFill>
                  <a:srgbClr val="D0D0D0"/>
                </a:solidFill>
                <a:latin typeface="Segoe UI"/>
              </a:rPr>
              <a:t>Validates FastAPI endpoints (/jobs, /jobs/{id}/mesh, /viewer), input sanitization, allowed file paths, 404/500 error reporting, and Three.js viewer HTML integration.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427EB5"/>
                </a:solidFill>
                <a:latin typeface="Segoe UI"/>
              </a:rPr>
              <a:t>●  System Diagnostics, GPU Broker &amp; Hardware Suite (38 Tests): </a:t>
            </a:r>
            <a:r>
              <a:rPr sz="900">
                <a:solidFill>
                  <a:srgbClr val="D0D0D0"/>
                </a:solidFill>
                <a:latin typeface="Segoe UI"/>
              </a:rPr>
              <a:t>Tests GPU broker concurrency locks, hardware detection (NVIDIA VRAM, CPU cores), Qwen Planner command schemas, model lifecycle purging, and Gradio studio workspace UI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LOCAL RESOURCE BUDGET &amp; EXECUTION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Target Hardware Profile &amp; Local Resource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Tested Host: Intel/AMD CPU, 16GB RAM, NVIDIA RTX 3050 Laptop GPU (6GB GDDR6), Windows 11 x64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TESTED BASELINE HARDWARE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212080" cy="45720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Host GPU: </a:t>
            </a:r>
            <a:r>
              <a:rPr sz="900">
                <a:solidFill>
                  <a:srgbClr val="D0D0D0"/>
                </a:solidFill>
                <a:latin typeface="Segoe UI"/>
              </a:rPr>
              <a:t>NVIDIA GeForce RTX 3050 Laptop GPU (6 GB dedicated GDDR6 VRAM).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System Memory: </a:t>
            </a:r>
            <a:r>
              <a:rPr sz="900">
                <a:solidFill>
                  <a:srgbClr val="D0D0D0"/>
                </a:solidFill>
                <a:latin typeface="Segoe UI"/>
              </a:rPr>
              <a:t>16 GB DDR4/DDR5 RAM with Windows 11 64-bit OS.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Host Compute Runtime: </a:t>
            </a:r>
            <a:r>
              <a:rPr sz="900">
                <a:solidFill>
                  <a:srgbClr val="D0D0D0"/>
                </a:solidFill>
                <a:latin typeface="Segoe UI"/>
              </a:rPr>
              <a:t>CUDA 12.4 with cuDNN 9.x acceleration on PyTorch 2.6.0+cu124.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DCC Environment: </a:t>
            </a:r>
            <a:r>
              <a:rPr sz="900">
                <a:solidFill>
                  <a:srgbClr val="D0D0D0"/>
                </a:solidFill>
                <a:latin typeface="Segoe UI"/>
              </a:rPr>
              <a:t>Blender 5.2.2 LTS / Blender 4.2 LTS (automatically discovered via registry or PATH).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Storage Footprint: </a:t>
            </a:r>
            <a:r>
              <a:rPr sz="900">
                <a:solidFill>
                  <a:srgbClr val="D0D0D0"/>
                </a:solidFill>
                <a:latin typeface="Segoe UI"/>
              </a:rPr>
              <a:t>~12 GB disk space for Python virtual environment, SD-Turbo weights, and TripoSR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VRAM ALLOCATION &amp; MEMORY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5212080" cy="45720"/>
          </a:xfrm>
          <a:prstGeom prst="rect">
            <a:avLst/>
          </a:prstGeom>
          <a:solidFill>
            <a:srgbClr val="4E8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Strict Single-Task Lease: </a:t>
            </a:r>
            <a:r>
              <a:rPr sz="900">
                <a:solidFill>
                  <a:srgbClr val="D0D0D0"/>
                </a:solidFill>
                <a:latin typeface="Segoe UI"/>
              </a:rPr>
              <a:t>core/gpu_broker.py acquires exclusive file and threading locks, strictly preventing concurrent model execution.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Sequential Model Loading: </a:t>
            </a:r>
            <a:r>
              <a:rPr sz="900">
                <a:solidFill>
                  <a:srgbClr val="D0D0D0"/>
                </a:solidFill>
                <a:latin typeface="Segoe UI"/>
              </a:rPr>
              <a:t>SD-Turbo (~3.2GB) runs, generates concept image, and is immediately purged from VRAM before TripoSR initializes.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Reconstruction Allocation: </a:t>
            </a:r>
            <a:r>
              <a:rPr sz="900">
                <a:solidFill>
                  <a:srgbClr val="D0D0D0"/>
                </a:solidFill>
                <a:latin typeface="Segoe UI"/>
              </a:rPr>
              <a:t>TripoSR allocates ~4.8 GB peak VRAM during marching-cubes geometry extraction on 6GB hardware.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Headless Blender Operations: </a:t>
            </a:r>
            <a:r>
              <a:rPr sz="900">
                <a:solidFill>
                  <a:srgbClr val="D0D0D0"/>
                </a:solidFill>
                <a:latin typeface="Segoe UI"/>
              </a:rPr>
              <a:t>Blender runs as a separate background process with ~2.5 - 3.8 GB peak memory usage during baking.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MEMORY SAFETY &amp; CRASH PREVENTION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212080" cy="45720"/>
          </a:xfrm>
          <a:prstGeom prst="rect">
            <a:avLst/>
          </a:prstGeom>
          <a:solidFill>
            <a:srgbClr val="4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Windows TDR Prevention: </a:t>
            </a:r>
            <a:r>
              <a:rPr sz="900">
                <a:solidFill>
                  <a:srgbClr val="D0D0D0"/>
                </a:solidFill>
                <a:latin typeface="Segoe UI"/>
              </a:rPr>
              <a:t>Batched tensor allocations prevent GPU driver timeouts and screen flickering on Windows laptops.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Proactive Cache Clearing: </a:t>
            </a:r>
            <a:r>
              <a:rPr sz="900">
                <a:solidFill>
                  <a:srgbClr val="D0D0D0"/>
                </a:solidFill>
                <a:latin typeface="Segoe UI"/>
              </a:rPr>
              <a:t>torch.cuda.empty_cache() and gc.collect() executed at every major pipeline boundary.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Graceful CPU Fallbacks: </a:t>
            </a:r>
            <a:r>
              <a:rPr sz="900">
                <a:solidFill>
                  <a:srgbClr val="D0D0D0"/>
                </a:solidFill>
                <a:latin typeface="Segoe UI"/>
              </a:rPr>
              <a:t>If CUDA is unavailable or exhausted, non-critical operations (rembg, trimesh, Reinhard transfer) execute cleanly on CPU.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TESTED VS. THEORETICAL CONFIGURATIONS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212080" cy="4572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Fully Tested &amp; Verified: </a:t>
            </a:r>
            <a:r>
              <a:rPr sz="900">
                <a:solidFill>
                  <a:srgbClr val="D0D0D0"/>
                </a:solidFill>
                <a:latin typeface="Segoe UI"/>
              </a:rPr>
              <a:t>Windows 11 x64 + NVIDIA RTX 3050 Laptop (6GB) + Blender 5.2.2 + Python 3.12.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Compatible Hardware (Tested Architecture): </a:t>
            </a:r>
            <a:r>
              <a:rPr sz="900">
                <a:solidFill>
                  <a:srgbClr val="D0D0D0"/>
                </a:solidFill>
                <a:latin typeface="Segoe UI"/>
              </a:rPr>
              <a:t>RTX 3060/4060 (8GB/12GB), RTX 3070/4070 (8GB/12GB), RTX 3080/4080/4090.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•  Apple Silicon / Linux Status: </a:t>
            </a:r>
            <a:r>
              <a:rPr sz="900">
                <a:solidFill>
                  <a:srgbClr val="D0D0D0"/>
                </a:solidFill>
                <a:latin typeface="Segoe UI"/>
              </a:rPr>
              <a:t>Architecturally compatible via PyTorch MPS / Linux CUDA; primary testing performed on Windows 11.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TRANSPARENT TRADEOFFS &amp; PRIORITIZED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Technical Limitations &amp; Prioritized Engineering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Audited Engineering Limitations &amp; Technical Roadmap (docs/USER_GUIDE.md, core/material_synthesizer.py)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TRANSPARENT CURRENT TECHNICAL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F0AA62"/>
                </a:solidFill>
                <a:latin typeface="Segoe UI"/>
              </a:defRPr>
            </a:pPr>
            <a:r>
              <a:t>▲  Dense Marching-Cubes Topology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Raw neural outputs produce dense, unstructured triangle geometry (~200K tris). While automated voxel remeshing reduces this to an 8K quad budget, organic edge loops for high-deformation skeletal rigging still require manual artist cleanup in Blender.</a:t>
            </a:r>
          </a:p>
          <a:p>
            <a:pPr>
              <a:spcBef>
                <a:spcPts val="400"/>
              </a:spcBef>
              <a:defRPr sz="1050" b="1">
                <a:solidFill>
                  <a:srgbClr val="F0AA62"/>
                </a:solidFill>
                <a:latin typeface="Segoe UI"/>
              </a:defRPr>
            </a:pPr>
            <a:r>
              <a:t>▲  Heuristic Semantic Partitioning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Multi-material boundary detection uses spatial coordinate analysis and surface normals. While highly dependable for standard furniture (chairs, tables, sofas) and vehicles, complex or abstract non-standard shapes may require manual face group selection.</a:t>
            </a:r>
          </a:p>
          <a:p>
            <a:pPr>
              <a:spcBef>
                <a:spcPts val="400"/>
              </a:spcBef>
              <a:defRPr sz="1050" b="1">
                <a:solidFill>
                  <a:srgbClr val="F0AA62"/>
                </a:solidFill>
                <a:latin typeface="Segoe UI"/>
              </a:defRPr>
            </a:pPr>
            <a:r>
              <a:t>▲  Single-Perspective Occlusion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TripoSR infers occluded rear geometry from a single 2D concept. While canonical multi-view grids improve orientation, back-face details may exhibit smoother geometry than front-facing focal details.</a:t>
            </a:r>
          </a:p>
          <a:p>
            <a:pPr>
              <a:spcBef>
                <a:spcPts val="400"/>
              </a:spcBef>
              <a:defRPr sz="1050" b="1">
                <a:solidFill>
                  <a:srgbClr val="F0AA62"/>
                </a:solidFill>
                <a:latin typeface="Segoe UI"/>
              </a:defRPr>
            </a:pPr>
            <a:r>
              <a:t>▲  Consumer 6GB VRAM Constraint</a:t>
            </a:r>
          </a:p>
          <a:p>
            <a:pPr>
              <a:spcAft>
                <a:spcPts val="400"/>
              </a:spcAft>
              <a:defRPr sz="900">
                <a:solidFill>
                  <a:srgbClr val="D0D0D0"/>
                </a:solidFill>
                <a:latin typeface="Segoe UI"/>
              </a:defRPr>
            </a:pPr>
            <a:r>
              <a:t>To run reliably on 6GB VRAM GPUs, models cannot remain concurrently resident in memory. Sequential offloading adds ~3-5 seconds of model-swap overhead between diffusion and 3D reconstruction.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PRIORITIZED FUTURE ENGINEERING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50" b="1">
                <a:solidFill>
                  <a:srgbClr val="4E8B58"/>
                </a:solidFill>
                <a:latin typeface="Segoe UI"/>
              </a:defRPr>
            </a:pPr>
            <a:r>
              <a:t>★  Phase 2.5: Near-Term Enhancements (Q4 2026)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CUDA-Accelerated UV Island Packing: </a:t>
            </a:r>
            <a:r>
              <a:rPr sz="900">
                <a:solidFill>
                  <a:srgbClr val="D0D0D0"/>
                </a:solidFill>
                <a:latin typeface="Segoe UI"/>
              </a:rPr>
              <a:t>Integrate xatlas CUDA kernels to reduce UV unwrapping duration from 4.2s to &lt;0.8s.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Normal Map Margin Dilation: </a:t>
            </a:r>
            <a:r>
              <a:rPr sz="900">
                <a:solidFill>
                  <a:srgbClr val="D0D0D0"/>
                </a:solidFill>
                <a:latin typeface="Segoe UI"/>
              </a:rPr>
              <a:t>Implement automated edge padding dilation to prevent black seam bleeding at low mipmap levels.</a:t>
            </a:r>
          </a:p>
          <a:p>
            <a:pPr>
              <a:spcBef>
                <a:spcPts val="5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★  Phase 3.0: Multi-View Diffusion Integration (Q1 2027)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Zero123++ / SV3D Conditioning: </a:t>
            </a:r>
            <a:r>
              <a:rPr sz="900">
                <a:solidFill>
                  <a:srgbClr val="D0D0D0"/>
                </a:solidFill>
                <a:latin typeface="Segoe UI"/>
              </a:rPr>
              <a:t>Integrate lightweight multi-view diffusion with progressive VRAM streaming for complete 360° photographic detail.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PBR Albedo De-lighting: </a:t>
            </a:r>
            <a:r>
              <a:rPr sz="900">
                <a:solidFill>
                  <a:srgbClr val="D0D0D0"/>
                </a:solidFill>
                <a:latin typeface="Segoe UI"/>
              </a:rPr>
              <a:t>Automatic neural shadow and highlight removal to yield pure ambient-occlusion-free base albedo textures.</a:t>
            </a:r>
          </a:p>
          <a:p>
            <a:pPr>
              <a:spcBef>
                <a:spcPts val="500"/>
              </a:spcBef>
              <a:defRPr sz="1050" b="1">
                <a:solidFill>
                  <a:srgbClr val="427EB5"/>
                </a:solidFill>
                <a:latin typeface="Segoe UI"/>
              </a:defRPr>
            </a:pPr>
            <a:r>
              <a:t>★  Phase 3.5: Character &amp; Animation Tooling (Q2 2027)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Automated Skeleton &amp; Rigging: </a:t>
            </a:r>
            <a:r>
              <a:rPr sz="900">
                <a:solidFill>
                  <a:srgbClr val="D0D0D0"/>
                </a:solidFill>
                <a:latin typeface="Segoe UI"/>
              </a:rPr>
              <a:t>Heuristic joint extraction and automatic linear blend skinning for humanoid and quadruped assets.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AFAFA"/>
                </a:solidFill>
                <a:latin typeface="Segoe UI"/>
              </a:rPr>
              <a:t>  • Automatic LOD Hierarchy Generation: </a:t>
            </a:r>
            <a:r>
              <a:rPr sz="900">
                <a:solidFill>
                  <a:srgbClr val="D0D0D0"/>
                </a:solidFill>
                <a:latin typeface="Segoe UI"/>
              </a:rPr>
              <a:t>Export multi-resolution LOD0, LOD1, LOD2 packages directly formatted for Unreal Engine 5 and 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58B35"/>
                </a:solidFill>
                <a:latin typeface="Segoe UI"/>
              </a:defRPr>
            </a:pPr>
            <a:r>
              <a:t>●  SUMMARY &amp; EVALUATOR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AFAFA"/>
                </a:solidFill>
                <a:latin typeface="Segoe UI"/>
              </a:defRPr>
            </a:pPr>
            <a:r>
              <a:t>Studio Readiness &amp; Live Demonstration Runbook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371600" cy="36576"/>
          </a:xfrm>
          <a:prstGeom prst="rect">
            <a:avLst/>
          </a:prstGeom>
          <a:solidFill>
            <a:srgbClr val="E5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E8E8E"/>
                </a:solidFill>
                <a:latin typeface="Segoe UI"/>
              </a:defRPr>
            </a:pPr>
            <a:r>
              <a:t>Local Mesh AI  •  Local-First Neural 3D Asset Studio  •  Repository: https://github.com/Kernlab-001/local-mesh-ai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58B35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E8E8E"/>
                </a:solidFill>
                <a:latin typeface="Segoe UI"/>
              </a:defRPr>
            </a:pPr>
            <a:r>
              <a:t>Source Verification: Interactive Demo Guide: docs/presentation/Live_Demo_Checklist.md • Repo: Kernlab-001/local-mesh-ai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EXECUTIVE TECHNICAL DELIVERABLES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4E8B58"/>
                </a:solidFill>
                <a:latin typeface="Segoe UI"/>
              </a:rPr>
              <a:t>✔  Fully Functional Local Neural Studio: </a:t>
            </a:r>
            <a:r>
              <a:rPr sz="950">
                <a:solidFill>
                  <a:srgbClr val="D0D0D0"/>
                </a:solidFill>
                <a:latin typeface="Segoe UI"/>
              </a:rPr>
              <a:t>Delivers an end-to-end 3D asset pipeline running entirely on consumer hardware without cloud dependencies or per-generation fees.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4E8B58"/>
                </a:solidFill>
                <a:latin typeface="Segoe UI"/>
              </a:rPr>
              <a:t>✔  Resolved White-Model Rendering Bug: </a:t>
            </a:r>
            <a:r>
              <a:rPr sz="950">
                <a:solidFill>
                  <a:srgbClr val="D0D0D0"/>
                </a:solidFill>
                <a:latin typeface="Segoe UI"/>
              </a:rPr>
              <a:t>Corrected shader node inspection, bypassed glTF multiply nodes, and instituted inter-process AppearanceProfile transfer to guarantee authentic multi-material PBR models.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4E8B58"/>
                </a:solidFill>
                <a:latin typeface="Segoe UI"/>
              </a:rPr>
              <a:t>✔  Production DCC Handoff: </a:t>
            </a:r>
            <a:r>
              <a:rPr sz="950">
                <a:solidFill>
                  <a:srgbClr val="D0D0D0"/>
                </a:solidFill>
                <a:latin typeface="Segoe UI"/>
              </a:rPr>
              <a:t>Includes native Blender 4.x/5.x add-on with N-panel generation, one-click Material Preview sync, and automated collection hierarchy.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4E8B58"/>
                </a:solidFill>
                <a:latin typeface="Segoe UI"/>
              </a:rPr>
              <a:t>✔  100% Test Pass Rate: </a:t>
            </a:r>
            <a:r>
              <a:rPr sz="950">
                <a:solidFill>
                  <a:srgbClr val="D0D0D0"/>
                </a:solidFill>
                <a:latin typeface="Segoe UI"/>
              </a:rPr>
              <a:t>78 total automated tests verifying API endpoints, shader construction, Blender bridge execution, and hardware management.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4E8B58"/>
                </a:solidFill>
                <a:latin typeface="Segoe UI"/>
              </a:rPr>
              <a:t>✔  Commercial-Ready Asset Delivery: </a:t>
            </a:r>
            <a:r>
              <a:rPr sz="950">
                <a:solidFill>
                  <a:srgbClr val="D0D0D0"/>
                </a:solidFill>
                <a:latin typeface="Segoe UI"/>
              </a:rPr>
              <a:t>Outputs verified watertight GLBs, low-poly game-ready models, 16-bit normal/diffuse baked maps, and native `.blend` scene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8B35"/>
                </a:solidFill>
                <a:latin typeface="Segoe UI"/>
              </a:defRPr>
            </a:pPr>
            <a:r>
              <a:t>LIVE DEMONSTRATION STEP-BY-STEP RUNBOOK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▶  Step 1: Launch Studio Services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Execute `python run_server.py --ui` to boot the FastAPI backend (port 8000) and Gradio 3D workspace (port 7860).</a:t>
            </a:r>
          </a:p>
          <a:p>
            <a:pPr>
              <a:spcBef>
                <a:spcPts val="400"/>
              </a:spcBef>
              <a:defRPr sz="1050" b="1">
                <a:solidFill>
                  <a:srgbClr val="FAFAFA"/>
                </a:solidFill>
                <a:latin typeface="Segoe UI"/>
              </a:defRPr>
            </a:pPr>
            <a:r>
              <a:t>▶  Step 2: Enter Recommended Test Prompt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Mode A (Text-to-3D): 'A realistic traditional dining chair with dark walnut wooden frame and legs, and warm ivory-cream upholstered seat cushion.'</a:t>
            </a:r>
          </a:p>
          <a:p>
            <a:pPr>
              <a:spcBef>
                <a:spcPts val="400"/>
              </a:spcBef>
              <a:defRPr sz="1050" b="1">
                <a:solidFill>
                  <a:srgbClr val="E58B35"/>
                </a:solidFill>
                <a:latin typeface="Segoe UI"/>
              </a:defRPr>
            </a:pPr>
            <a:r>
              <a:t>▶  Step 3: Monitor 10-Stage Pipeline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Observe live console output and stage pills as SD-Turbo synthesizes concept art, TripoSR reconstructs 3D geometry, and the material engine partitions faces (~85s).</a:t>
            </a:r>
          </a:p>
          <a:p>
            <a:pPr>
              <a:spcBef>
                <a:spcPts val="400"/>
              </a:spcBef>
              <a:defRPr sz="1050" b="1">
                <a:solidFill>
                  <a:srgbClr val="4E8B58"/>
                </a:solidFill>
                <a:latin typeface="Segoe UI"/>
              </a:defRPr>
            </a:pPr>
            <a:r>
              <a:t>▶  Step 4: Inspect 3D Model in Viewport &amp; Blender</a:t>
            </a:r>
          </a:p>
          <a:p>
            <a:pPr>
              <a:spcAft>
                <a:spcPts val="400"/>
              </a:spcAft>
              <a:defRPr sz="950">
                <a:solidFill>
                  <a:srgbClr val="D0D0D0"/>
                </a:solidFill>
                <a:latin typeface="Segoe UI"/>
              </a:defRPr>
            </a:pPr>
            <a:r>
              <a:t>Rotate and zoom in Three.js WebGL viewport to inspect walnut wood and cream fabric materials. Click 'Open in Blender' to view native `.blend` scene.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166360"/>
            <a:ext cx="4846320" cy="59436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E5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AFAFA"/>
                </a:solidFill>
                <a:latin typeface="Segoe UI"/>
              </a:defRPr>
            </a:pPr>
            <a:r>
              <a:t>GitHub Repository: https://github.com/Kernlab-001/local-mesh-ai</a:t>
            </a:r>
            <a:br/>
            <a:r>
              <a:t>Developed by Local Mesh AI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